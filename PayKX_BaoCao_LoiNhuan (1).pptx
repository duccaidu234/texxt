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T9</c:v>
                </c:pt>
                <c:pt idx="1">
                  <c:v>T10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Phí đối tác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T9</c:v>
                </c:pt>
                <c:pt idx="1">
                  <c:v>T10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</c:v>
                </c:pt>
                <c:pt idx="1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txPr>
        <a:bodyPr/>
        <a:lstStyle/>
        <a:p>
          <a:pPr>
            <a:defRPr sz="1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Doanh thu tăng 15% nhờ ưu đãi nạp điện thoại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/>
            </a:pPr>
            <a:r>
              <a:t>PAYKX – Báo cáo lỗ lãi tháng 10/2026</a:t>
            </a:r>
          </a:p>
          <a:p>
            <a:pPr>
              <a:defRPr sz="3000"/>
            </a:pPr>
            <a:r>
              <a:t>Tập trung vào biến động dòng tiền và phí đối tác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Doanh thu tăng nhanh hơn chi phí đối tác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Lợi nhuận ròng cải thiện nhờ kiểm soát phí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3000"/>
            </a:pPr>
            <a:r>
              <a:t>Doanh thu: 115 triệu đồng</a:t>
            </a:r>
          </a:p>
          <a:p>
            <a:pPr>
              <a:spcAft>
                <a:spcPts val="1800"/>
              </a:spcAft>
              <a:defRPr sz="3000"/>
            </a:pPr>
            <a:r>
              <a:t>Phí đối tác: 31 triệu đồng</a:t>
            </a:r>
          </a:p>
          <a:p>
            <a:pPr>
              <a:spcAft>
                <a:spcPts val="1800"/>
              </a:spcAft>
              <a:defRPr sz="3000"/>
            </a:pPr>
            <a:r>
              <a:t>Lợi nhuận trước chi phí khác: 84 triệu đồng</a:t>
            </a:r>
          </a:p>
          <a:p>
            <a:pPr>
              <a:spcAft>
                <a:spcPts val="1800"/>
              </a:spcAft>
              <a:defRPr sz="3000"/>
            </a:pPr>
            <a:r>
              <a:t>Ưu tiên: duy trì ưu đãi hiệu quả và giảm giao dịch có phí 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Đối soát sạch giúp hạn chế sai lệch doanh thu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TRIM → VLOOKUP(FALSE) → kiểm tra #N/A → đối chiếu mã giao dịch</a:t>
            </a:r>
          </a:p>
          <a:p>
            <a:pPr>
              <a:defRPr sz="3000"/>
            </a:pPr>
            <a:r>
              <a:t>Không Merge Cell trong vùng dữ liệu; không có hàng trống giữa các bản ghi.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